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209EF05E-1B58-4B57-BC1F-9BCA1777573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44" name="TextShape 4"/>
          <p:cNvSpPr txBox="1"/>
          <p:nvPr/>
        </p:nvSpPr>
        <p:spPr>
          <a:xfrm>
            <a:off x="432000" y="234000"/>
            <a:ext cx="11304000" cy="4759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2100" spc="-1" strike="noStrike">
                <a:solidFill>
                  <a:srgbClr val="102a43"/>
                </a:solidFill>
                <a:latin typeface="Noto Sans CJK SC"/>
              </a:rPr>
              <a:t>holydrone</a:t>
            </a:r>
            <a:r>
              <a:rPr b="1" lang="zh-CN" sz="2100" spc="-1" strike="noStrike">
                <a:solidFill>
                  <a:srgbClr val="102a43"/>
                </a:solidFill>
                <a:latin typeface="Noto Sans CJK SC"/>
              </a:rPr>
              <a:t>：</a:t>
            </a:r>
            <a:r>
              <a:rPr b="1" lang="en-US" sz="2100" spc="-1" strike="noStrike">
                <a:solidFill>
                  <a:srgbClr val="102a43"/>
                </a:solidFill>
                <a:latin typeface="Noto Sans CJK SC"/>
              </a:rPr>
              <a:t>Gazebo + PX4 SITL </a:t>
            </a:r>
            <a:r>
              <a:rPr b="1" lang="zh-CN" sz="2100" spc="-1" strike="noStrike">
                <a:solidFill>
                  <a:srgbClr val="102a43"/>
                </a:solidFill>
                <a:latin typeface="Noto Sans CJK SC"/>
              </a:rPr>
              <a:t>启动流程</a:t>
            </a:r>
            <a:endParaRPr b="1" lang="en-US" sz="2100" spc="-1" strike="noStrike">
              <a:solidFill>
                <a:srgbClr val="102a43"/>
              </a:solidFill>
              <a:latin typeface="Noto Sans CJK SC"/>
            </a:endParaRPr>
          </a:p>
        </p:txBody>
      </p:sp>
      <p:sp>
        <p:nvSpPr>
          <p:cNvPr id="45" name="TextShape 5"/>
          <p:cNvSpPr txBox="1"/>
          <p:nvPr/>
        </p:nvSpPr>
        <p:spPr>
          <a:xfrm>
            <a:off x="576000" y="568800"/>
            <a:ext cx="110160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950" spc="-1" strike="noStrike">
                <a:solidFill>
                  <a:srgbClr val="52657a"/>
                </a:solidFill>
                <a:latin typeface="Noto Sans CJK SC"/>
              </a:rPr>
              <a:t>ROS </a:t>
            </a:r>
            <a:r>
              <a:rPr b="0" lang="zh-CN" sz="950" spc="-1" strike="noStrike">
                <a:solidFill>
                  <a:srgbClr val="52657a"/>
                </a:solidFill>
                <a:latin typeface="Noto Sans CJK SC"/>
              </a:rPr>
              <a:t>包同时承载仿真与实飞入口；下图沿 </a:t>
            </a:r>
            <a:r>
              <a:rPr b="0" lang="en-US" sz="950" spc="-1" strike="noStrike">
                <a:solidFill>
                  <a:srgbClr val="52657a"/>
                </a:solidFill>
                <a:latin typeface="Noto Sans CJK SC"/>
              </a:rPr>
              <a:t>roslaunch </a:t>
            </a:r>
            <a:r>
              <a:rPr b="0" lang="zh-CN" sz="950" spc="-1" strike="noStrike">
                <a:solidFill>
                  <a:srgbClr val="52657a"/>
                </a:solidFill>
                <a:latin typeface="Noto Sans CJK SC"/>
              </a:rPr>
              <a:t>的实际展开顺序展示</a:t>
            </a:r>
            <a:endParaRPr b="0" lang="en-US" sz="950" spc="-1" strike="noStrike">
              <a:solidFill>
                <a:srgbClr val="52657a"/>
              </a:solidFill>
              <a:latin typeface="Noto Sans CJK SC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396000" y="1026000"/>
            <a:ext cx="2196000" cy="972000"/>
          </a:xfrm>
          <a:prstGeom prst="roundRect">
            <a:avLst/>
          </a:prstGeom>
          <a:solidFill>
            <a:srgbClr val="ddebff"/>
          </a:solidFill>
          <a:ln w="16200">
            <a:solidFill>
              <a:srgbClr val="52657a"/>
            </a:solidFill>
            <a:round/>
          </a:ln>
        </p:spPr>
      </p:sp>
      <p:sp>
        <p:nvSpPr>
          <p:cNvPr id="47" name="TextShape 7"/>
          <p:cNvSpPr txBox="1"/>
          <p:nvPr/>
        </p:nvSpPr>
        <p:spPr>
          <a:xfrm>
            <a:off x="489600" y="1080000"/>
            <a:ext cx="2008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1  </a:t>
            </a:r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用户入口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48" name="TextShape 8"/>
          <p:cNvSpPr txBox="1"/>
          <p:nvPr/>
        </p:nvSpPr>
        <p:spPr>
          <a:xfrm>
            <a:off x="504000" y="1274400"/>
            <a:ext cx="1980000" cy="1057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roslaunch holydrone sitl.launch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参数：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PX4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world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pose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GUI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3240000" y="1026000"/>
            <a:ext cx="2484000" cy="972000"/>
          </a:xfrm>
          <a:prstGeom prst="roundRect">
            <a:avLst/>
          </a:prstGeom>
          <a:solidFill>
            <a:srgbClr val="e8e0ff"/>
          </a:solidFill>
          <a:ln w="16200">
            <a:solidFill>
              <a:srgbClr val="52657a"/>
            </a:solidFill>
            <a:round/>
          </a:ln>
        </p:spPr>
      </p:sp>
      <p:sp>
        <p:nvSpPr>
          <p:cNvPr id="50" name="TextShape 10"/>
          <p:cNvSpPr txBox="1"/>
          <p:nvPr/>
        </p:nvSpPr>
        <p:spPr>
          <a:xfrm>
            <a:off x="3333600" y="1080000"/>
            <a:ext cx="2296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2  launch </a:t>
            </a:r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解析与环境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51" name="TextShape 11"/>
          <p:cNvSpPr txBox="1"/>
          <p:nvPr/>
        </p:nvSpPr>
        <p:spPr>
          <a:xfrm>
            <a:off x="3348000" y="1274400"/>
            <a:ext cx="2268000" cy="90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launch/sitl.launch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设置模型、插件与动态库搜索路径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52" name="Line 12"/>
          <p:cNvSpPr/>
          <p:nvPr/>
        </p:nvSpPr>
        <p:spPr>
          <a:xfrm>
            <a:off x="2592000" y="1512000"/>
            <a:ext cx="648000" cy="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Rectangle 13"/>
          <p:cNvSpPr/>
          <p:nvPr/>
        </p:nvSpPr>
        <p:spPr>
          <a:xfrm>
            <a:off x="648000" y="2592000"/>
            <a:ext cx="2520000" cy="1080000"/>
          </a:xfrm>
          <a:prstGeom prst="roundRect">
            <a:avLst/>
          </a:prstGeom>
          <a:solidFill>
            <a:srgbClr val="ddf7ea"/>
          </a:solidFill>
          <a:ln w="16200">
            <a:solidFill>
              <a:srgbClr val="52657a"/>
            </a:solidFill>
            <a:round/>
          </a:ln>
        </p:spPr>
      </p:sp>
      <p:sp>
        <p:nvSpPr>
          <p:cNvPr id="54" name="TextShape 14"/>
          <p:cNvSpPr txBox="1"/>
          <p:nvPr/>
        </p:nvSpPr>
        <p:spPr>
          <a:xfrm>
            <a:off x="741600" y="2646000"/>
            <a:ext cx="2332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3A  Gazebo </a:t>
            </a:r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世界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55" name="TextShape 15"/>
          <p:cNvSpPr txBox="1"/>
          <p:nvPr/>
        </p:nvSpPr>
        <p:spPr>
          <a:xfrm>
            <a:off x="756000" y="2840400"/>
            <a:ext cx="2304000" cy="1235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gazebo_ros/gzserver + gzclient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读取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baylands.world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加载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ROS API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与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PX4 Gazebo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插件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56" name="Rectangle 16"/>
          <p:cNvSpPr/>
          <p:nvPr/>
        </p:nvSpPr>
        <p:spPr>
          <a:xfrm>
            <a:off x="3672000" y="2592000"/>
            <a:ext cx="2340000" cy="1080000"/>
          </a:xfrm>
          <a:prstGeom prst="roundRect">
            <a:avLst/>
          </a:prstGeom>
          <a:solidFill>
            <a:srgbClr val="fff0d6"/>
          </a:solidFill>
          <a:ln w="16200">
            <a:solidFill>
              <a:srgbClr val="52657a"/>
            </a:solidFill>
            <a:round/>
          </a:ln>
        </p:spPr>
      </p:sp>
      <p:sp>
        <p:nvSpPr>
          <p:cNvPr id="57" name="TextShape 17"/>
          <p:cNvSpPr txBox="1"/>
          <p:nvPr/>
        </p:nvSpPr>
        <p:spPr>
          <a:xfrm>
            <a:off x="3765600" y="2646000"/>
            <a:ext cx="2152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3B  Holydrone </a:t>
            </a:r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模型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58" name="TextShape 18"/>
          <p:cNvSpPr txBox="1"/>
          <p:nvPr/>
        </p:nvSpPr>
        <p:spPr>
          <a:xfrm>
            <a:off x="3780000" y="2840400"/>
            <a:ext cx="2124000" cy="1235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gazebo_ros/spawn_model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读取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holydrone.sdf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生成机体、旋翼、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GPS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、相机与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LiDAR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59" name="Rectangle 19"/>
          <p:cNvSpPr/>
          <p:nvPr/>
        </p:nvSpPr>
        <p:spPr>
          <a:xfrm>
            <a:off x="6516000" y="2592000"/>
            <a:ext cx="2520000" cy="1080000"/>
          </a:xfrm>
          <a:prstGeom prst="roundRect">
            <a:avLst/>
          </a:prstGeom>
          <a:solidFill>
            <a:srgbClr val="ffe1e6"/>
          </a:solidFill>
          <a:ln w="16200">
            <a:solidFill>
              <a:srgbClr val="52657a"/>
            </a:solidFill>
            <a:round/>
          </a:ln>
        </p:spPr>
      </p:sp>
      <p:sp>
        <p:nvSpPr>
          <p:cNvPr id="60" name="TextShape 20"/>
          <p:cNvSpPr txBox="1"/>
          <p:nvPr/>
        </p:nvSpPr>
        <p:spPr>
          <a:xfrm>
            <a:off x="6609600" y="2646000"/>
            <a:ext cx="2332800" cy="320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3C  PX4 SITL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61" name="TextShape 21"/>
          <p:cNvSpPr txBox="1"/>
          <p:nvPr/>
        </p:nvSpPr>
        <p:spPr>
          <a:xfrm>
            <a:off x="6624000" y="2840400"/>
            <a:ext cx="2304000" cy="90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运行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px4_sitl_default/bin/px4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PX4_SYS_AUTOSTART=22000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加载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Holydrone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机架配置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62" name="Line 22"/>
          <p:cNvSpPr/>
          <p:nvPr/>
        </p:nvSpPr>
        <p:spPr>
          <a:xfrm flipH="1">
            <a:off x="1908000" y="1998000"/>
            <a:ext cx="2574000" cy="59400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Line 23"/>
          <p:cNvSpPr/>
          <p:nvPr/>
        </p:nvSpPr>
        <p:spPr>
          <a:xfrm>
            <a:off x="4482000" y="1998000"/>
            <a:ext cx="360000" cy="59400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Line 24"/>
          <p:cNvSpPr/>
          <p:nvPr/>
        </p:nvSpPr>
        <p:spPr>
          <a:xfrm>
            <a:off x="4482000" y="1998000"/>
            <a:ext cx="3294000" cy="59400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Rectangle 25"/>
          <p:cNvSpPr/>
          <p:nvPr/>
        </p:nvSpPr>
        <p:spPr>
          <a:xfrm>
            <a:off x="9648000" y="2592000"/>
            <a:ext cx="2016000" cy="1080000"/>
          </a:xfrm>
          <a:prstGeom prst="roundRect">
            <a:avLst/>
          </a:prstGeom>
          <a:solidFill>
            <a:srgbClr val="ddebff"/>
          </a:solidFill>
          <a:ln w="16200">
            <a:solidFill>
              <a:srgbClr val="52657a"/>
            </a:solidFill>
            <a:round/>
          </a:ln>
        </p:spPr>
      </p:sp>
      <p:sp>
        <p:nvSpPr>
          <p:cNvPr id="66" name="TextShape 26"/>
          <p:cNvSpPr txBox="1"/>
          <p:nvPr/>
        </p:nvSpPr>
        <p:spPr>
          <a:xfrm>
            <a:off x="9741600" y="2646000"/>
            <a:ext cx="1828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4  MAVROS </a:t>
            </a:r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接口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67" name="TextShape 27"/>
          <p:cNvSpPr txBox="1"/>
          <p:nvPr/>
        </p:nvSpPr>
        <p:spPr>
          <a:xfrm>
            <a:off x="9756000" y="2840400"/>
            <a:ext cx="1800000" cy="90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mavros.launch — SITL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mavros_real.launch —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实飞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mavros_sim.launch —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兼容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68" name="Line 28"/>
          <p:cNvSpPr/>
          <p:nvPr/>
        </p:nvSpPr>
        <p:spPr>
          <a:xfrm>
            <a:off x="9036000" y="3132000"/>
            <a:ext cx="612000" cy="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Rectangle 29"/>
          <p:cNvSpPr/>
          <p:nvPr/>
        </p:nvSpPr>
        <p:spPr>
          <a:xfrm>
            <a:off x="1296000" y="4536000"/>
            <a:ext cx="4248000" cy="1116000"/>
          </a:xfrm>
          <a:prstGeom prst="roundRect">
            <a:avLst/>
          </a:prstGeom>
          <a:solidFill>
            <a:srgbClr val="e6f0ff"/>
          </a:solidFill>
          <a:ln w="16200">
            <a:solidFill>
              <a:srgbClr val="2f6eb5"/>
            </a:solidFill>
            <a:round/>
          </a:ln>
        </p:spPr>
      </p:sp>
      <p:sp>
        <p:nvSpPr>
          <p:cNvPr id="70" name="TextShape 30"/>
          <p:cNvSpPr txBox="1"/>
          <p:nvPr/>
        </p:nvSpPr>
        <p:spPr>
          <a:xfrm>
            <a:off x="1389600" y="4590000"/>
            <a:ext cx="4060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完整仿真入口：</a:t>
            </a:r>
            <a:r>
              <a:rPr b="1" lang="en-US" sz="1250" spc="-1" strike="noStrike">
                <a:solidFill>
                  <a:srgbClr val="10243a"/>
                </a:solidFill>
                <a:latin typeface="Noto Sans CJK SC"/>
              </a:rPr>
              <a:t>interception_sim.launch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71" name="TextShape 31"/>
          <p:cNvSpPr txBox="1"/>
          <p:nvPr/>
        </p:nvSpPr>
        <p:spPr>
          <a:xfrm>
            <a:off x="1404000" y="4784400"/>
            <a:ext cx="4032000" cy="10828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包含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sitl.launch + mavros.launch + tpv_camera.launch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Gazebo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提供物理与传感器；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PX4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执行飞控；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MAVROS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提供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ROS 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接口。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72" name="Rectangle 32"/>
          <p:cNvSpPr/>
          <p:nvPr/>
        </p:nvSpPr>
        <p:spPr>
          <a:xfrm>
            <a:off x="6624000" y="4536000"/>
            <a:ext cx="4248000" cy="1116000"/>
          </a:xfrm>
          <a:prstGeom prst="roundRect">
            <a:avLst/>
          </a:prstGeom>
          <a:solidFill>
            <a:srgbClr val="e7f7ef"/>
          </a:solidFill>
          <a:ln w="16200">
            <a:solidFill>
              <a:srgbClr val="2b7a52"/>
            </a:solidFill>
            <a:round/>
          </a:ln>
        </p:spPr>
      </p:sp>
      <p:sp>
        <p:nvSpPr>
          <p:cNvPr id="73" name="TextShape 33"/>
          <p:cNvSpPr txBox="1"/>
          <p:nvPr/>
        </p:nvSpPr>
        <p:spPr>
          <a:xfrm>
            <a:off x="6717600" y="4590000"/>
            <a:ext cx="40608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zh-CN" sz="1250" spc="-1" strike="noStrike">
                <a:solidFill>
                  <a:srgbClr val="10243a"/>
                </a:solidFill>
                <a:latin typeface="Noto Sans CJK SC"/>
              </a:rPr>
              <a:t>启动完成后的关键输出</a:t>
            </a:r>
            <a:endParaRPr b="1" lang="en-US" sz="1250" spc="-1" strike="noStrike">
              <a:solidFill>
                <a:srgbClr val="10243a"/>
              </a:solidFill>
              <a:latin typeface="Noto Sans CJK SC"/>
            </a:endParaRPr>
          </a:p>
        </p:txBody>
      </p:sp>
      <p:sp>
        <p:nvSpPr>
          <p:cNvPr id="74" name="TextShape 34"/>
          <p:cNvSpPr txBox="1"/>
          <p:nvPr/>
        </p:nvSpPr>
        <p:spPr>
          <a:xfrm>
            <a:off x="6732000" y="4784400"/>
            <a:ext cx="4032000" cy="10828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/gazebo/model_states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/camera/image_raw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/mavros/imu/data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、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/mavros/local_position/*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  <a:p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交给 </a:t>
            </a:r>
            <a:r>
              <a:rPr b="0" lang="en-US" sz="830" spc="-1" strike="noStrike">
                <a:solidFill>
                  <a:srgbClr val="26384d"/>
                </a:solidFill>
                <a:latin typeface="Noto Sans CJK SC"/>
              </a:rPr>
              <a:t>detection → filter → estimate → FSM → NMPC</a:t>
            </a:r>
            <a:r>
              <a:rPr b="0" lang="zh-CN" sz="830" spc="-1" strike="noStrike">
                <a:solidFill>
                  <a:srgbClr val="26384d"/>
                </a:solidFill>
                <a:latin typeface="Noto Sans CJK SC"/>
              </a:rPr>
              <a:t>。</a:t>
            </a:r>
            <a:endParaRPr b="0" lang="en-US" sz="830" spc="-1" strike="noStrike">
              <a:solidFill>
                <a:srgbClr val="26384d"/>
              </a:solidFill>
              <a:latin typeface="Noto Sans CJK SC"/>
            </a:endParaRPr>
          </a:p>
        </p:txBody>
      </p:sp>
      <p:sp>
        <p:nvSpPr>
          <p:cNvPr id="75" name="Line 35"/>
          <p:cNvSpPr/>
          <p:nvPr/>
        </p:nvSpPr>
        <p:spPr>
          <a:xfrm>
            <a:off x="5544000" y="5094000"/>
            <a:ext cx="1080000" cy="0"/>
          </a:xfrm>
          <a:prstGeom prst="line">
            <a:avLst/>
          </a:prstGeom>
          <a:ln w="252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Shape 36"/>
          <p:cNvSpPr txBox="1"/>
          <p:nvPr/>
        </p:nvSpPr>
        <p:spPr>
          <a:xfrm>
            <a:off x="468000" y="6282000"/>
            <a:ext cx="11232000" cy="421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zh-CN" sz="800" spc="-1" strike="noStrike">
                <a:solidFill>
                  <a:srgbClr val="66788a"/>
                </a:solidFill>
                <a:latin typeface="Noto Sans CJK SC"/>
              </a:rPr>
              <a:t>依据：</a:t>
            </a:r>
            <a:r>
              <a:rPr b="0" lang="en-US" sz="800" spc="-1" strike="noStrike">
                <a:solidFill>
                  <a:srgbClr val="66788a"/>
                </a:solidFill>
                <a:latin typeface="Noto Sans CJK SC"/>
              </a:rPr>
              <a:t>src/holydrone/launch/{sitl,mavros,interception_sim}.launch </a:t>
            </a:r>
            <a:r>
              <a:rPr b="0" lang="zh-CN" sz="800" spc="-1" strike="noStrike">
                <a:solidFill>
                  <a:srgbClr val="66788a"/>
                </a:solidFill>
                <a:latin typeface="Noto Sans CJK SC"/>
              </a:rPr>
              <a:t>｜ 所有方框与文字均为可编辑对象</a:t>
            </a:r>
            <a:endParaRPr b="0" lang="en-US" sz="800" spc="-1" strike="noStrike">
              <a:solidFill>
                <a:srgbClr val="66788a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2026-10-29T12:14:27Z</dcterms:created>
  <dc:creator/>
  <dc:description/>
  <dc:language>en-US</dc:language>
  <cp:lastModifiedBy/>
  <dcterms:modified xsi:type="dcterms:W3CDTF">2026-10-29T12:14:27Z</dcterms:modified>
  <cp:revision>1</cp:revision>
  <dc:subject/>
  <dc:title/>
</cp:coreProperties>
</file>